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e069ad735b4a5f" /><Relationship Type="http://schemas.openxmlformats.org/officeDocument/2006/relationships/extended-properties" Target="/docProps/app.xml" Id="Rb5bcb9ac72894d30" /><Relationship Type="http://schemas.openxmlformats.org/officeDocument/2006/relationships/officeDocument" Target="/ppt/presentation.xml" Id="R9ec1fae9a3a94e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32e736bc844a87"/>
  </p:sldMasterIdLst>
  <p:notesMasterIdLst>
    <p:notesMasterId xmlns:r="http://schemas.openxmlformats.org/officeDocument/2006/relationships" r:id="Raddc1cd33d4c40c4"/>
  </p:notesMasterIdLst>
  <p:sldIdLst>
    <p:sldId xmlns:r="http://schemas.openxmlformats.org/officeDocument/2006/relationships" id="256" r:id="Rd81862673be64218"/>
  </p:sldIdLst>
  <p:sldSz cx="12449175" cy="87439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4420022cd94d66" /><Relationship Type="http://schemas.openxmlformats.org/officeDocument/2006/relationships/slideMaster" Target="/ppt/slideMasters/slideMaster1.xml" Id="R1e32e736bc844a87" /><Relationship Type="http://schemas.openxmlformats.org/officeDocument/2006/relationships/notesMaster" Target="/ppt/notesMasters/notesMaster1.xml" Id="Raddc1cd33d4c40c4" /><Relationship Type="http://schemas.openxmlformats.org/officeDocument/2006/relationships/presProps" Target="/ppt/presProps.xml" Id="Raf1ebf425db94b55" /><Relationship Type="http://schemas.openxmlformats.org/officeDocument/2006/relationships/viewProps" Target="/ppt/viewProps.xml" Id="R6155febe0863417a" /><Relationship Type="http://schemas.openxmlformats.org/officeDocument/2006/relationships/tableStyles" Target="/ppt/tableStyles.xml" Id="Rf97d3ab5e68f488c" /><Relationship Type="http://schemas.openxmlformats.org/officeDocument/2006/relationships/slide" Target="/ppt/slides/slide1.xml" Id="Rd81862673be642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e46a5344f4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27ceb39def438d" /><Relationship Type="http://schemas.openxmlformats.org/officeDocument/2006/relationships/notesMaster" Target="/ppt/notesMasters/notesMaster1.xml" Id="Rec123b05c52f47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dadbbd76d47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21d428907f46d7" /><Relationship Type="http://schemas.openxmlformats.org/officeDocument/2006/relationships/slideLayout" Target="/ppt/slideLayouts/slideLayout1.xml" Id="R6d5bf6e5adc146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5bf6e5adc146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872d24ac3415c" /><Relationship Type="http://schemas.openxmlformats.org/officeDocument/2006/relationships/notesSlide" Target="/ppt/notesSlides/notesSlide1.xml" Id="R7cd7e118de544f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54B1FE-DAD3-4A9A-8209-8BA76474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A55"/>
                </a:solidFill>
                <a:latin typeface="Arial"/>
                <a:ea typeface="Arial"/>
                <a:cs typeface="Arial"/>
              </a:rPr>
              <a:t>TARSUS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F0143-42FC-4E54-9CF7-B3CFAFC8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8200"/>
            <a:ext cx="1190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72A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72A55"/>
                </a:solidFill>
                <a:latin typeface="Arial"/>
                <a:ea typeface="Arial"/>
                <a:cs typeface="Arial"/>
              </a:rPr>
              <a:t>ÜNİVERSİTESİ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07C47-1A1A-46D8-A0D9-611DCA46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"/>
            <a:ext cx="8048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DYTOPIA: DİYETİSYEN WEB PANELİNDE PLAN, TARİF VE DANIŞAN YÖNETİMİ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74CF2-5FD3-4196-87D4-84ED5860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0668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Halil İbrahim YILDIRIM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2509C-A6D4-4A50-AE29-AEB695C3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14450"/>
            <a:ext cx="638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Danışman: Dr. Öğr. Üyesi Volkan ATEŞ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8B35B-BD16-4376-89D2-59DD3B21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71625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Tarsus Üniversitesi, Mühendislik Fakültesi, Bilgisayar Mühendisliği Bölümü,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5CCBA-25BD-48BD-8ED9-D3D3D448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000125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745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7745A"/>
                </a:solidFill>
                <a:latin typeface="Arial"/>
                <a:ea typeface="Arial"/>
                <a:cs typeface="Arial"/>
              </a:rPr>
              <a:t>DYTOPIA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E0AA7-1618-40C9-9381-D4032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619375" cy="354330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80010-0D4B-495C-8D8C-3A6193EF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GİRİŞ /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D6FEB-E3F4-4C8E-965A-7D4B5255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52675"/>
            <a:ext cx="2333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Diyetisyenlerin plan, tarif kuralı, danışan durumu ve iletişim süreçlerini farklı araçlarda yürütmesi veri kopukluğu ve operasyon yükü oluşturur.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D7903-7F11-411F-9DC2-5E1F4057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29100"/>
            <a:ext cx="2333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Araştırma Sorusu: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26273-A8DC-47CE-A923-5E1AB8E3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38650"/>
            <a:ext cx="2333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Tek web paneli diyetisyen operasyonunu danışan mobil akışıyla nasıl senkronize eder?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9DD7D-39E9-446F-9D6B-1570B60E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2619375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E8456-90C3-476D-A5EE-48DD6627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2466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AMAÇ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B6D5FE-74CE-45B8-A714-735CFB4B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38850"/>
            <a:ext cx="2286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Danışan ve plan yönetimini merkezileştirmek.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Tariflerde zorunlu, opsiyonel, yasak ve alternatif rolleri tanımlamak.</a:t>
            </a:r>
          </a:p>
          <a:p xmlns:a="http://schemas.openxmlformats.org/drawingml/2006/main">
            <a:pPr algn="l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Access Key ve Care Hub süreçlerini yönetmek.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E79A6-6E5D-4FC3-B4BA-93A9EC81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459105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B71F03-0EEA-4AEE-A51D-A980340A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383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METODOLOJİ VE MODEL MİMARİSİ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39BE0-C492-4A9B-9C03-5042E517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6D791-A5E1-4584-B19D-D1C559B0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Danışan seçimi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03D8B-E3BC-46BA-88D2-14523D14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33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79512-0B85-4C86-9258-0AD2B5B7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A4D7E4-7605-48CE-BD83-CC055DBA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68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Plan oluşturma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07316-FAFB-4ADA-915B-A8506B69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29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66B987-51E1-49B6-A7B4-4112C2B9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54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70B4F4-A988-4CDF-88C0-E87A72F2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Tarif kural girişi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3F3E5-F904-45EE-AB36-296CF46F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025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3D0588-D746-4FBC-8160-085309CC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50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E38693-0C29-468B-8FA6-FDDFE235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360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Access Key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855BED-A719-45FC-A099-FEDECEEC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215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1C16DB-AD6D-42C4-A0FC-BD983F64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65" y="2400300"/>
            <a:ext cx="72771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8C23EB-833B-4FEA-A7B2-A11E47DD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565" y="2495550"/>
            <a:ext cx="65151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İzleme ve iletişim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523F0C-A597-47CA-A3CF-784FA031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Katmanlar arası kontrollü karar akışı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75F474-388C-42C1-B5F8-28EF0650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9A1A08-1CAB-4051-B661-36727BDD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09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Next.js panel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928F69-F326-442E-A774-77E182AF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6712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98B7E2-04D1-4733-80B1-F1F3357C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81952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28400C-EFC9-4370-8A3C-04D7D94A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9572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A2D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A2D83"/>
                </a:solidFill>
                <a:latin typeface="Arial"/>
                <a:ea typeface="Arial"/>
                <a:cs typeface="Arial"/>
              </a:rPr>
              <a:t>Diyetisyen API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FCD822-C501-4DCC-AC90-A2A01E32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52900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F3A20D-9EF1-40D8-BCE1-888C1F01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05300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3DA350-D82B-4D29-9C43-997361DD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815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Tarif / plan tabloları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CDB620-33B7-411B-A72D-27384330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38675"/>
            <a:ext cx="15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7629FF-0E79-48BC-A44E-A68AA89A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791075"/>
            <a:ext cx="308610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CB67B8-67C5-4D8B-B2F7-DE3644F9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Mobil senkronizasyon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8D5CD3-B385-443D-B96F-98B0C20B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467350"/>
            <a:ext cx="382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Deterministik kurallar önce çalışır; belirsizlik açık durum olarak korunur.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3F3D81-512A-464C-A4AE-76A093EF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48350"/>
            <a:ext cx="4591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1DF138-351C-4FC5-8FBB-6F8987C8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90550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BULGULAR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CC81B1-7735-4C3F-B5A2-4CBCEBA4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15327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735909-B649-480E-BEFB-CD9D835B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605588"/>
            <a:ext cx="412750" cy="557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A"/>
          </a:solidFill>
          <a:ln xmlns:a="http://schemas.openxmlformats.org/drawingml/2006/main" w="0">
            <a:solidFill>
              <a:srgbClr val="27745A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E6D4AE-89D6-453F-8E62-CD829227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415088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454C85-5E8E-4681-B24D-2EA02464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Ana modül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549008-46EA-4467-A984-B1E40B06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375" y="6448425"/>
            <a:ext cx="41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5A"/>
          </a:solidFill>
          <a:ln xmlns:a="http://schemas.openxmlformats.org/drawingml/2006/main" w="0">
            <a:solidFill>
              <a:srgbClr val="27745A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185A20-8057-416D-BAC9-C177543C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225" y="625792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5A0A32-F55A-4400-8ECF-EE762E79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17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C9ADDA-7FBA-4A55-936D-250A86B3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625" y="6448425"/>
            <a:ext cx="412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4"/>
          </a:solidFill>
          <a:ln xmlns:a="http://schemas.openxmlformats.org/drawingml/2006/main" w="0">
            <a:solidFill>
              <a:srgbClr val="C43D34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41DF34-73E4-4A0D-A747-71047595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6475" y="6257925"/>
            <a:ext cx="52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F07A14-4170-45B7-92A4-45AB6248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425" y="7200900"/>
            <a:ext cx="565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Tenant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D1338C-3364-48E5-9D4C-2610A69F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286500"/>
            <a:ext cx="1952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Dashboard, danışan, plan, tarif, erişim anahtarı ve iletişim modülleri geliştirildi.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Tarif kuralları mobil öneri motoruyla aynı veri modelini kullanır.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Klinik kapsamı veri izolasyonu testleriyle doğrulandı.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5B4345-A407-4408-8168-477BEA65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81200"/>
            <a:ext cx="4200525" cy="5105400"/>
          </a:xfrm>
          <a:prstGeom xmlns:a="http://schemas.openxmlformats.org/drawingml/2006/main" prst="roundRect">
            <a:avLst>
              <a:gd name="adj" fmla="val 18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6996E6-4173-412B-9050-1381F455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SİSTEM ENTEGRASYONU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5FF0B52-6845-4073-8D72-F12B1934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CADBF2-F6A4-4B8B-9A2F-A4B9B845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Next.js panel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AB6DE25-4C01-431E-8FA4-85740EDB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04C745-4212-4814-BCE3-BA8CD2D9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CFF28F1-F5C0-4BF9-9282-982DE448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Diyetisyen API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A8DE0CC-0608-46B4-A479-9B21D171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976980-A8F9-42D5-A7AC-AE14FA44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2950AD-EE27-4235-BE02-5ECE56D2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Tarif / plan tabloları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D9499AF-0C6A-4953-A80B-BD33D87C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571750"/>
            <a:ext cx="9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EAD68C-E54E-4894-98B0-782DF3F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00300"/>
            <a:ext cx="838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27745A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6DEFFC2-9863-4CF5-9E10-BAD0AF01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49555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Mobil senkronizasyon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51D5ED8-CEEE-4AC2-856E-3A632E98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319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F6F3"/>
          </a:solidFill>
          <a:ln xmlns:a="http://schemas.openxmlformats.org/drawingml/2006/main" w="8573">
            <a:solidFill>
              <a:srgbClr val="27745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B669FE-650D-4D3E-A917-A2C3C1C3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3000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Dytopia Backend API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0399A84-5543-4022-9CB3-F7AD29C6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00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Kimlik doğrulama · iş kuralları · veri erişimi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8F3F18E-54D8-4E92-9F22-15D8FF4A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81425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5467"/>
                </a:solidFill>
                <a:latin typeface="Arial"/>
                <a:ea typeface="Arial"/>
                <a:cs typeface="Arial"/>
              </a:rPr>
              <a:t>↑                 ↓                 ↑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79F1069-B225-41E5-8E34-2283B6DA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7620">
            <a:solidFill>
              <a:srgbClr val="C97A3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5D35DC4-0B6B-4592-AF65-61281812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EEFC"/>
          </a:solidFill>
          <a:ln xmlns:a="http://schemas.openxmlformats.org/drawingml/2006/main" w="7620">
            <a:solidFill>
              <a:srgbClr val="6C5CB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AA7B8CB-FDBF-4C8B-9E40-5F4A842D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10668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9F5EF"/>
          </a:solidFill>
          <a:ln xmlns:a="http://schemas.openxmlformats.org/drawingml/2006/main" w="7620">
            <a:solidFill>
              <a:srgbClr val="3E8C68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D515AA5-E9EC-45B5-AB3D-D78314E4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İstemci</a:t>
            </a:r>
          </a:p>
          <a:p xmlns:a="http://schemas.openxmlformats.org/drawingml/2006/main">
            <a:pPr algn="ctr">
              <a:defRPr sz="750" b="1">
                <a:solidFill>
                  <a:srgbClr val="8A431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431B"/>
                </a:solidFill>
                <a:latin typeface="Arial"/>
                <a:ea typeface="Arial"/>
                <a:cs typeface="Arial"/>
              </a:rPr>
              <a:t>Etkileşimi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473794D-99F1-46A7-ADA9-693900A2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Karar</a:t>
            </a:r>
          </a:p>
          <a:p xmlns:a="http://schemas.openxmlformats.org/drawingml/2006/main">
            <a:pPr algn="ctr">
              <a:defRPr sz="750" b="1">
                <a:solidFill>
                  <a:srgbClr val="40318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0318A"/>
                </a:solidFill>
                <a:latin typeface="Arial"/>
                <a:ea typeface="Arial"/>
                <a:cs typeface="Arial"/>
              </a:rPr>
              <a:t>Servisleri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212FF40-3760-4F14-974A-89998627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24815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Veri</a:t>
            </a:r>
          </a:p>
          <a:p xmlns:a="http://schemas.openxmlformats.org/drawingml/2006/main">
            <a:pPr algn="ctr">
              <a:defRPr sz="750" b="1">
                <a:solidFill>
                  <a:srgbClr val="12633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2633B"/>
                </a:solidFill>
                <a:latin typeface="Arial"/>
                <a:ea typeface="Arial"/>
                <a:cs typeface="Arial"/>
              </a:rPr>
              <a:t>Kalıcılığı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A2DDDDC-B507-4C67-8430-110E90E4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10150"/>
            <a:ext cx="3381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Ortak domain modeli mobil danışan, diyetisyen paneli ve backend servislerinin aynı kuralları uygulamasını sağlar.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59606E7-6BB6-4E68-A2B7-424E3DE2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81700"/>
            <a:ext cx="3381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Ölçüm ve test artifact’leri karar katmanlarının davranışını izlenebilir hâle getirir.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FAB875F-98D7-460C-BF08-E51A5029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200900"/>
            <a:ext cx="42005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4904430-B713-4E64-A13E-55DFF518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258050"/>
            <a:ext cx="4048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SONUÇ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DD66248-473E-4B64-9148-F56CC4A2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43800"/>
            <a:ext cx="388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Web paneli operasyonel kuralları doğrudan öneri motoruna bağlar.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Aynı domain modeli veri tekrarını ve tutarsızlığı azaltır.</a:t>
            </a:r>
          </a:p>
          <a:p xmlns:a="http://schemas.openxmlformats.org/drawingml/2006/main">
            <a:pPr algn="l">
              <a:defRPr sz="8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Panel, danışan deneyimini yöneten denetlenebilir kontrol yüzeyidir.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7AF0DA0-B23E-4CCF-A505-DEFE61F1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10550"/>
            <a:ext cx="73247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72A55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BD0EFCC-DAF2-4C63-B30C-DE907D8B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267700"/>
            <a:ext cx="71723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KAYNAKLAR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A101299-3A9E-4BF5-939A-419E585D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458200"/>
            <a:ext cx="7048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Burke (2002)     • Ricci vd. (2022)     • Chen vd. (2023)     • Li vd. (2023)     • Kim vd. (2025)     • Dytopia benchmark (2026)</a:t>
            </a:r>
          </a:p>
        </p:txBody>
      </p:sp>
    </p:spTree>
    <p:extLst>
      <p:ext uri="{BB962C8B-B14F-4D97-AF65-F5344CB8AC3E}">
        <p14:creationId xmlns:p14="http://schemas.microsoft.com/office/powerpoint/2010/main" val="1681561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2026-06-12T12:03:21.0910000Z</dcterms:created>
  <dcterms:modified xsi:type="dcterms:W3CDTF">2026-06-12T12:03:21.0910000Z</dcterms:modified>
</coreProperties>
</file>