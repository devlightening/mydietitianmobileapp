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e9f7b7911e474c" /><Relationship Type="http://schemas.openxmlformats.org/officeDocument/2006/relationships/extended-properties" Target="/docProps/app.xml" Id="Rf1a3fc2e82dc45ab" /><Relationship Type="http://schemas.openxmlformats.org/officeDocument/2006/relationships/officeDocument" Target="/ppt/presentation.xml" Id="Re71fa011ace240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6fa6dff9b949e8"/>
  </p:sldMasterIdLst>
  <p:notesMasterIdLst>
    <p:notesMasterId xmlns:r="http://schemas.openxmlformats.org/officeDocument/2006/relationships" r:id="R591a777379b64790"/>
  </p:notesMasterIdLst>
  <p:sldIdLst>
    <p:sldId xmlns:r="http://schemas.openxmlformats.org/officeDocument/2006/relationships" id="256" r:id="Rb7c97e34d0894142"/>
  </p:sldIdLst>
  <p:sldSz cx="12449175" cy="87439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4eae49d79245e5" /><Relationship Type="http://schemas.openxmlformats.org/officeDocument/2006/relationships/slideMaster" Target="/ppt/slideMasters/slideMaster1.xml" Id="R4d6fa6dff9b949e8" /><Relationship Type="http://schemas.openxmlformats.org/officeDocument/2006/relationships/notesMaster" Target="/ppt/notesMasters/notesMaster1.xml" Id="R591a777379b64790" /><Relationship Type="http://schemas.openxmlformats.org/officeDocument/2006/relationships/presProps" Target="/ppt/presProps.xml" Id="R1d8dd5f8ebe54fd8" /><Relationship Type="http://schemas.openxmlformats.org/officeDocument/2006/relationships/viewProps" Target="/ppt/viewProps.xml" Id="R7cb74f05b1724988" /><Relationship Type="http://schemas.openxmlformats.org/officeDocument/2006/relationships/tableStyles" Target="/ppt/tableStyles.xml" Id="R7f537fd3cbd24e7c" /><Relationship Type="http://schemas.openxmlformats.org/officeDocument/2006/relationships/slide" Target="/ppt/slides/slide1.xml" Id="Rb7c97e34d08941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88821c758245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6d2fa7e5514e69" /><Relationship Type="http://schemas.openxmlformats.org/officeDocument/2006/relationships/notesMaster" Target="/ppt/notesMasters/notesMaster1.xml" Id="R0cda5da0876e4e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f1a8156684a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a2d8a1adaf4edb" /><Relationship Type="http://schemas.openxmlformats.org/officeDocument/2006/relationships/slideLayout" Target="/ppt/slideLayouts/slideLayout1.xml" Id="Rcd42f837e4ba46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42f837e4ba46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ba72e7af84d81" /><Relationship Type="http://schemas.openxmlformats.org/officeDocument/2006/relationships/notesSlide" Target="/ppt/notesSlides/notesSlide1.xml" Id="Re70fd4723ba94e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B56B1C-8EB9-4678-85F6-7B3AEC22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55"/>
                </a:solidFill>
                <a:latin typeface="Arial"/>
                <a:ea typeface="Arial"/>
                <a:cs typeface="Arial"/>
              </a:rPr>
              <a:t>TARSUS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E5517-9AEA-4DEF-BB3D-94483881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A55"/>
                </a:solidFill>
                <a:latin typeface="Arial"/>
                <a:ea typeface="Arial"/>
                <a:cs typeface="Arial"/>
              </a:rPr>
              <a:t>ÜNİVERSİTESİ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25EA4-EF80-40F6-9251-DE4E1E4E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"/>
            <a:ext cx="804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DYTOPIA: MOBİL, WEB VE BACKEND KATMANLARININ UÇTAN UCA SİSTEM MİMARİSİ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A976C-E03A-43A7-8567-7ACD56A3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668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Halil İbrahim YILDIRIM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75FE4-627B-4C6E-A68A-CFCA8CC8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14450"/>
            <a:ext cx="638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Danışman: Dr. Öğr. Üyesi Volkan ATEŞ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CFE1C-7E4F-44D0-88DC-1D20FF6D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Tarsus Üniversitesi, Mühendislik Fakültesi, Bilgisayar Mühendisliği Bölümü,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E476A-0ED9-4627-A150-76E67705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000125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4AA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4AA2"/>
                </a:solidFill>
                <a:latin typeface="Arial"/>
                <a:ea typeface="Arial"/>
                <a:cs typeface="Arial"/>
              </a:rPr>
              <a:t>DYTOPIA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69DD5-69C5-4920-9328-DA2D0096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619375" cy="35433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B174D-3C2A-4F9D-A538-C0774C01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GİRİŞ /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069F1-56CF-4A9E-9C42-468A1A46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52675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Beslenme platformlarında mobil danışan deneyimi, diyetisyen operasyonu ve öneri motoru ayrı veri modelleriyle geliştirildiğinde tutarsızlık ve bakım maliyeti artar.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C024C-D247-43E7-98D7-E32AB3FA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291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Araştırma Sorusu: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C9BE9-2E07-4FEB-9327-EF38F463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386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Ortak domain modeli ve katmanlı servis mimarisi uçtan uca iş akışını nasıl bütünleştirir?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339E4-B584-40F5-AEC1-4652189D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2619375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153BA-4C6A-4563-BF72-5E36A411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AMAÇ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1FE3A-B018-4638-90A0-53ADDF2A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Mobil ve web istemcilerini ortak API çevresinde birleştirmek.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Domain, application ve infrastructure sorumluluklarını ayırmak.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Gerçek zamanlı iletişim ve veri kalıcılığını desteklemek.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1E8D3-2D9B-4111-8606-08C58E56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45910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F99D4-4CBA-44A1-8FCF-23F17406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383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METODOLOJİ VE MODEL MİMARİSİ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F8075-67D0-4A80-8B62-3A706856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F0D62-949C-45CC-8734-836BEBC9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React Native istemci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E2313-9CD6-433E-B44E-F5C68291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33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5E10C-DB6B-4A78-A208-EF86FDBB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FB704-A9A6-46AB-AA0C-40EAEB20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8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REST + SignalR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4B7F7-3189-4DE2-943D-4D89DD2D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BF7F2A-2BE8-4593-95A9-BA8B3979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54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2EBCD3-F5F1-4A9F-996D-7794AB53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ASP.NET Core servisleri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70400F-FB03-44FD-8E99-F92A40F6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25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183DBE-0147-4206-AD7A-AA9FCF93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0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13108A-7B88-42C5-A077-50600947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EF 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0F51A-38FF-45C6-BFDD-2F17A7B3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C044A4-683E-40AC-BB45-8032E979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6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FB3AA3-50BC-4BB0-8256-43AF6EE0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56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97A4E-8C9C-46CE-8E22-836E28BC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Katmanlar arası kontrollü karar akışı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BB496B-ACC7-4A47-80E9-FD9C20C2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BE6FA8-42A1-4FA5-8592-B3F09615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9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Mobil danışan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79175F-CA10-455F-B035-78A0AD75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6712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7F638C-85D1-4A4C-B53B-25E4CA9B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81952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4A296A-1D2C-4EAC-B8A2-7EC3D2E8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A2D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A2D83"/>
                </a:solidFill>
                <a:latin typeface="Arial"/>
                <a:ea typeface="Arial"/>
                <a:cs typeface="Arial"/>
              </a:rPr>
              <a:t>API gateway / auth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FFF41A-A6AB-400E-B340-C804FE2F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529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3CE301-C11C-4F3A-BF9D-AEAEFF43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0530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D2B70E-68E7-4F43-B1E1-2CE2424A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815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Domain servisleri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DAD3C5-C198-436E-B7DF-35474C36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3867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447345-3A9F-4967-B66A-89AE078D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9107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2F119B-B1BF-4864-83B7-3379C7A9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Diyetisyen web paneli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88CB1E-F5F8-4804-AFA8-7C0C7A14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67350"/>
            <a:ext cx="382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Deterministik kurallar önce çalışır; belirsizlik açık durum olarak korunur.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492F00-A6F6-4EE8-A48F-3F6CBF97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48350"/>
            <a:ext cx="4591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D38BCC-0C30-4034-93D6-C2566BB1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9055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BULGULAR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DF23FD-D366-4E4B-AC73-1F758485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15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97BA97-8A70-4A99-821D-048946F7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534150"/>
            <a:ext cx="41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AA2"/>
          </a:solidFill>
          <a:ln xmlns:a="http://schemas.openxmlformats.org/drawingml/2006/main" w="0">
            <a:solidFill>
              <a:srgbClr val="5B4AA2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8E0308-7943-4485-A3F0-5C6A9825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343650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2,58 ms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FDFBA3-95D2-48EF-AA57-89612E23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Tarif API P95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FEF921-B6C9-4B1D-B669-2A11569D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6648450"/>
            <a:ext cx="41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AA2"/>
          </a:solidFill>
          <a:ln xmlns:a="http://schemas.openxmlformats.org/drawingml/2006/main" w="0">
            <a:solidFill>
              <a:srgbClr val="5B4AA2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19D3BB-4C5F-4551-B84A-88413DAD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225" y="6457950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6,02 ms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1354FB-78D1-4924-B745-F535A46E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17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Öneri API P95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735BBF-51F4-4CB4-9B74-6BF88BCE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7096125"/>
            <a:ext cx="41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4"/>
          </a:solidFill>
          <a:ln xmlns:a="http://schemas.openxmlformats.org/drawingml/2006/main" w="0">
            <a:solidFill>
              <a:srgbClr val="C43D3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0B33DB-34FA-4AE3-8805-F4E0BBDB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475" y="69056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418B86-C31B-4A7E-A038-2A4AA9C5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4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Hata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B10DE8-BCD8-4146-A8B6-440E4F76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86500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Mobil uygulama, web panel ve backend aynı domain varlıklarını kullanır.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Tarif eşleştirme HTTP testinde ortalama 1,808 ms ölçüldü.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Öneri endpoint’i 30 istekte hata üretmedi.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9D748E-5C49-480D-9BE0-EE3BCE25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81200"/>
            <a:ext cx="4200525" cy="5105400"/>
          </a:xfrm>
          <a:prstGeom xmlns:a="http://schemas.openxmlformats.org/drawingml/2006/main" prst="roundRect">
            <a:avLst>
              <a:gd name="adj" fmla="val 1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292D94-5942-4179-9511-4540C9C1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SİSTEM ENTEGRASYONU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733377F-3F3C-45E6-8A45-4D023439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5E365B-4B21-47CD-B94F-86E2649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Mobil danışan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07445D-2417-470D-8A9C-95A363F2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9C0105-47DF-48D9-B7C3-7533217D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44F367-37A2-424F-ACB0-66F0ACEA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API gateway / auth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F9B971-BE08-4A85-84FF-D7CDF9DF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35822B-9D2A-48E0-BA18-0ABE6FDE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C0DF55-058E-4CF9-8C50-2AF230B4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Domain servisleri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9F97EF-7CB8-4395-ADE8-4717E86C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A2EBDC5-22C7-4D02-9264-BDE98BC5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045ADA-97BF-49F9-BD36-848FD406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Diyetisyen web paneli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504E10-7F15-4871-BD47-328029BB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319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8573">
            <a:solidFill>
              <a:srgbClr val="5B4AA2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9DD2B41-B42A-45BD-B58F-026FACE4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3000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Dytopia Backend API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08C00F-7933-4022-B992-521B301C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00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Kimlik doğrulama · iş kuralları · veri erişimi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8C40D3-BC8E-4BE1-8E22-08361F1A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8142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↑                 ↓                 ↑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A80B0A6-1DF4-4266-8479-D850CF20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7620">
            <a:solidFill>
              <a:srgbClr val="C97A3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3CA6794-E4ED-4BE0-8571-F332D476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6C5CB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4518AFA-2FD8-45F1-B85C-A969E5AB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3E8C6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5C4DFFF-F4F9-47A3-91A4-0869809A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İstemci</a:t>
            </a:r>
          </a:p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Etkileşimi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DEAF6A4-AD5A-4F79-BA96-6B8A7164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Servisleri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7BC6438-447B-4B59-9AB0-CF532196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Veri</a:t>
            </a:r>
          </a:p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Kalıcılığı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C393702-098A-45F2-B3D0-29D4CD3F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81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Ortak domain modeli mobil danışan, diyetisyen paneli ve backend servislerinin aynı kuralları uygulamasını sağlar.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A3ACA1E-A1B6-4CE6-9470-D6D9603F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3381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Ölçüm ve test artifact’leri karar katmanlarının davranışını izlenebilir hâle getirir.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1F41CE6-09DA-4E98-BD20-1C37B8BB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00900"/>
            <a:ext cx="4200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9B530F5-4033-40A6-A256-60A6FF66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580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8E232B7-1DFC-446D-B662-F7823C62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43800"/>
            <a:ext cx="388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Katmanlı mimari, karar mantığını istemci arayüzlerinden ayırır.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Ortak API sözleşmesi mobil ve web iş akışını senkronize eder.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Mimari yeni istemci ve servislerin eklenmesine uygundur.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0D147DA-29D4-4A36-8FCE-D7237394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10550"/>
            <a:ext cx="73247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F28D16A-2415-473D-BCDA-6D94D3C3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67700"/>
            <a:ext cx="7172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KAYNAKLAR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82A8E1E-2160-416B-8B40-7AA9768D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58200"/>
            <a:ext cx="704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Burke (2002)     • Ricci vd. (2022)     • Chen vd. (2023)     • Li vd. (2023)     • Kim vd. (2025)     • Dytopia benchmark (2026)</a:t>
            </a:r>
          </a:p>
        </p:txBody>
      </p:sp>
    </p:spTree>
    <p:extLst>
      <p:ext uri="{BB962C8B-B14F-4D97-AF65-F5344CB8AC3E}">
        <p14:creationId xmlns:p14="http://schemas.microsoft.com/office/powerpoint/2010/main" val="1810606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2026-06-12T12:03:20.1000000Z</dcterms:created>
  <dcterms:modified xsi:type="dcterms:W3CDTF">2026-06-12T12:03:20.1000000Z</dcterms:modified>
</coreProperties>
</file>