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eeb2a8b95d4a36" /><Relationship Type="http://schemas.openxmlformats.org/officeDocument/2006/relationships/extended-properties" Target="/docProps/app.xml" Id="Re7db5ab7907a419d" /><Relationship Type="http://schemas.openxmlformats.org/officeDocument/2006/relationships/officeDocument" Target="/ppt/presentation.xml" Id="R59264c13b3814d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aad3c48c0f4e36"/>
  </p:sldMasterIdLst>
  <p:notesMasterIdLst>
    <p:notesMasterId xmlns:r="http://schemas.openxmlformats.org/officeDocument/2006/relationships" r:id="R533037ad27d04513"/>
  </p:notesMasterIdLst>
  <p:sldIdLst>
    <p:sldId xmlns:r="http://schemas.openxmlformats.org/officeDocument/2006/relationships" id="256" r:id="R97a0c08450bf4fdc"/>
  </p:sldIdLst>
  <p:sldSz cx="12449175" cy="874395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892deb7d634069" /><Relationship Type="http://schemas.openxmlformats.org/officeDocument/2006/relationships/slideMaster" Target="/ppt/slideMasters/slideMaster1.xml" Id="Re7aad3c48c0f4e36" /><Relationship Type="http://schemas.openxmlformats.org/officeDocument/2006/relationships/notesMaster" Target="/ppt/notesMasters/notesMaster1.xml" Id="R533037ad27d04513" /><Relationship Type="http://schemas.openxmlformats.org/officeDocument/2006/relationships/presProps" Target="/ppt/presProps.xml" Id="R4219ca8b613f4edb" /><Relationship Type="http://schemas.openxmlformats.org/officeDocument/2006/relationships/viewProps" Target="/ppt/viewProps.xml" Id="R33e40d999d774628" /><Relationship Type="http://schemas.openxmlformats.org/officeDocument/2006/relationships/tableStyles" Target="/ppt/tableStyles.xml" Id="R4445dd3d7a0a4708" /><Relationship Type="http://schemas.openxmlformats.org/officeDocument/2006/relationships/slide" Target="/ppt/slides/slide1.xml" Id="R97a0c08450bf4f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4f53079add4c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4895a6595a4cb1" /><Relationship Type="http://schemas.openxmlformats.org/officeDocument/2006/relationships/notesMaster" Target="/ppt/notesMasters/notesMaster1.xml" Id="Ra375c79173a446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b8ff43b16f46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df33ced81d4166" /><Relationship Type="http://schemas.openxmlformats.org/officeDocument/2006/relationships/slideLayout" Target="/ppt/slideLayouts/slideLayout1.xml" Id="Ra03184ebe78348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3184ebe78348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b65e25ba9748ea" /><Relationship Type="http://schemas.openxmlformats.org/officeDocument/2006/relationships/notesSlide" Target="/ppt/notesSlides/notesSlide1.xml" Id="R753859c2a8c0450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5E3882-3091-4F26-8B72-6571A292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3875"/>
            <a:ext cx="1190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A5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A55"/>
                </a:solidFill>
                <a:latin typeface="Arial"/>
                <a:ea typeface="Arial"/>
                <a:cs typeface="Arial"/>
              </a:rPr>
              <a:t>TARSUS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8545E2-9AA5-4096-9A79-3F5DB221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38200"/>
            <a:ext cx="1190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72A5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A55"/>
                </a:solidFill>
                <a:latin typeface="Arial"/>
                <a:ea typeface="Arial"/>
                <a:cs typeface="Arial"/>
              </a:rPr>
              <a:t>ÜNİVERSİTESİ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010F69-A0A2-4BEF-BA3D-75D85429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5750"/>
            <a:ext cx="8048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DYTOPIA: TAKSONOMİ TABANLI AÇIKLANABİLİR TARİF ÖNERİ MOTORU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CFC24E-EA72-4379-AD3C-CAEBA6F8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66800"/>
            <a:ext cx="581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Halil İbrahim YILDIRIM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A1F611-5763-4AA6-BF9A-403467B0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314450"/>
            <a:ext cx="638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Danışman: Dr. Öğr. Üyesi Volkan ATEŞ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70CFFC-D3D1-4253-90EE-686B87A8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571625"/>
            <a:ext cx="781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Tarsus Üniversitesi, Mühendislik Fakültesi, Bilgisayar Mühendisliği Bölümü,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B6295B-2BAE-4ACA-9F6E-CC35C009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1000125"/>
            <a:ext cx="1190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B4AA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B4AA2"/>
                </a:solidFill>
                <a:latin typeface="Arial"/>
                <a:ea typeface="Arial"/>
                <a:cs typeface="Arial"/>
              </a:rPr>
              <a:t>DYTOPIA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EC51A3-E326-49D2-9A50-58A720BC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2619375" cy="3543300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2A5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148E2B-971E-4102-9648-70DCB371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24669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GİRİŞ / PROBLEM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3FB6F4-1B37-434F-9A51-BFA66F35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352675"/>
            <a:ext cx="2333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Klasik tarif eşleştirme, eldeki malzeme sayısına odaklandığında zorunlu malzeme eksikliğini veya yasak içeriği gözden kaçırabilir. Son kullanıcıya neden önerildiği açıklanamayan tarifler güveni azaltır.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D596A8-7165-4844-BF1F-7D34D782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229100"/>
            <a:ext cx="2333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Araştırma Sorusu: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70C3DD-FDB9-4C1F-AD79-27DCCBFE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438650"/>
            <a:ext cx="2333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Malzeme rollerini ve ikame ilişkilerini kullanan kural motoru güvenli ve açıklanabilir öneri üretebilir mi?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80A9E4-3BB2-4DD4-9079-C68E9FB0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2619375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2A5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8BC562-CA5D-41FA-AB9A-71387A87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5950"/>
            <a:ext cx="24669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AMAÇ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0EF283-E153-4A87-91A9-01B21E55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38850"/>
            <a:ext cx="2286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Zorunlu ve yasak malzemeleri kararın merkezine almak.</a:t>
            </a:r>
          </a:p>
          <a:p xmlns:a="http://schemas.openxmlformats.org/drawingml/2006/main">
            <a:pPr algn="l">
              <a:defRPr sz="9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Alternatif malzemeleri taksonomi ilişkileriyle değerlendirmek.</a:t>
            </a:r>
          </a:p>
          <a:p xmlns:a="http://schemas.openxmlformats.org/drawingml/2006/main">
            <a:pPr algn="l">
              <a:defRPr sz="9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Her tarif için eksik, ikame ve red nedenini göstermek.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C61E7-579A-40CE-A6B9-5FFF8DEF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981200"/>
            <a:ext cx="4591050" cy="3752850"/>
          </a:xfrm>
          <a:prstGeom xmlns:a="http://schemas.openxmlformats.org/drawingml/2006/main" prst="roundRect">
            <a:avLst>
              <a:gd name="adj" fmla="val 2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2A5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D63B08-9BC3-48B7-9902-9CD381FF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03835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METODOLOJİ VE MODEL MİMARİSİ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8236FC-4D0B-4FCD-9AD7-A4ED89B4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00300"/>
            <a:ext cx="72771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5B4AA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116931-1BD2-4881-B30E-BC448A99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495550"/>
            <a:ext cx="65151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Sepet normalizasyonu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A28D18-A2C1-4C1A-AE05-1DE215395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335" y="25717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0B10C9-765D-40A4-81F3-77DEA54B3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9585" y="2400300"/>
            <a:ext cx="72771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9F5EF"/>
          </a:solidFill>
          <a:ln xmlns:a="http://schemas.openxmlformats.org/drawingml/2006/main" w="7620">
            <a:solidFill>
              <a:srgbClr val="5B4AA2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6DC3AE-AC52-4DA4-8455-A1793C57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685" y="2495550"/>
            <a:ext cx="65151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263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2633B"/>
                </a:solidFill>
                <a:latin typeface="Arial"/>
                <a:ea typeface="Arial"/>
                <a:cs typeface="Arial"/>
              </a:rPr>
              <a:t>Aday tarif havuzu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78DA57-8735-4E17-881A-46A38925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7295" y="25717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FE55B9-DF9A-4225-82A2-1A34E5B5C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2545" y="2400300"/>
            <a:ext cx="72771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5B4AA2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8537E6-F457-416E-8DAF-FBA2F1D6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0645" y="2495550"/>
            <a:ext cx="65151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Rol tabanlı kontrol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D394B2-29C3-4E47-9CB6-538BE35B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255" y="25717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3319D8-8AE9-42A8-A09B-1A6B9560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5505" y="2400300"/>
            <a:ext cx="72771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9F5EF"/>
          </a:solidFill>
          <a:ln xmlns:a="http://schemas.openxmlformats.org/drawingml/2006/main" w="7620">
            <a:solidFill>
              <a:srgbClr val="5B4AA2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69ABCC-BE3E-4A45-ADFA-253A300B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3605" y="2495550"/>
            <a:ext cx="65151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263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2633B"/>
                </a:solidFill>
                <a:latin typeface="Arial"/>
                <a:ea typeface="Arial"/>
                <a:cs typeface="Arial"/>
              </a:rPr>
              <a:t>İkame değerlendirme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A9E124-F394-4742-8CD2-1C5DC7FE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3215" y="25717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B7B11D-8F2F-4D94-B319-E60994CF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8465" y="2400300"/>
            <a:ext cx="72771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5B4AA2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AE1799-61DE-4192-83CF-D7B2F826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6565" y="2495550"/>
            <a:ext cx="65151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Skor + açıklama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FC1D86-0532-4054-B308-63189FC4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6705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Katmanlar arası kontrollü karar akışı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558DC4-8F8F-4F07-BFDC-BF86DB08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333750"/>
            <a:ext cx="30861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5B4AA2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6A9421-45ED-4C9D-924D-1F4FDFA4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40995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Mutfak ekranı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6E22160-B2ED-45A2-861F-4EE8C412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667125"/>
            <a:ext cx="152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CC9CA2-E182-4D12-9819-F7359C812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819525"/>
            <a:ext cx="30861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0EEFC"/>
          </a:solidFill>
          <a:ln xmlns:a="http://schemas.openxmlformats.org/drawingml/2006/main" w="7620">
            <a:solidFill>
              <a:srgbClr val="5B4AA2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F7D7BA6-3614-4132-BDAA-B8C4B303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95725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A2D8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A2D83"/>
                </a:solidFill>
                <a:latin typeface="Arial"/>
                <a:ea typeface="Arial"/>
                <a:cs typeface="Arial"/>
              </a:rPr>
              <a:t>Recipe evaluator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C60365-28C0-4D11-B6E5-75788623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152900"/>
            <a:ext cx="152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1E502A2-A85D-4085-B271-1E6833AB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305300"/>
            <a:ext cx="30861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5B4AA2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3AADA75-DF67-40F9-912B-29D343C9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38150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Taksonomi tabloları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2668996-1D12-4D20-89FE-812BDA58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638675"/>
            <a:ext cx="152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C25E702-291B-4A83-B3D6-9A673A81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791075"/>
            <a:ext cx="30861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5B4AA2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1CB521D-8CC1-48E0-BC0C-62196C97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67275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Tarif sonuç ekranı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B1174A4-88C0-411A-8D92-FBB4BFD5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467350"/>
            <a:ext cx="382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Deterministik kurallar önce çalışır; belirsizlik açık durum olarak korunur.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17E0393-67DB-40B7-AC6E-61238422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848350"/>
            <a:ext cx="459105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2A55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055B925-2023-4BAB-9A6C-40FBED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90550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BULGULAR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99EBD04-7990-4F85-87D3-16569D33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7153275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467"/>
          </a:solidFill>
          <a:ln xmlns:a="http://schemas.openxmlformats.org/drawingml/2006/main" w="0">
            <a:solidFill>
              <a:srgbClr val="475467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6B86903-3BFF-49E3-8156-3BE7F52C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6448425"/>
            <a:ext cx="412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AA2"/>
          </a:solidFill>
          <a:ln xmlns:a="http://schemas.openxmlformats.org/drawingml/2006/main" w="0">
            <a:solidFill>
              <a:srgbClr val="5B4AA2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C860427-EF17-4788-B93D-60805254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6257925"/>
            <a:ext cx="527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08AA6E5-B440-4CEB-9DCD-C5266CFB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7200900"/>
            <a:ext cx="565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Karar doğruluğu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C3DB490-6302-4BB8-8B15-FB849E54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375" y="6448425"/>
            <a:ext cx="412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AA2"/>
          </a:solidFill>
          <a:ln xmlns:a="http://schemas.openxmlformats.org/drawingml/2006/main" w="0">
            <a:solidFill>
              <a:srgbClr val="5B4AA2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AA7E5FE-7F8F-4C71-8339-E3CE3383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3225" y="6257925"/>
            <a:ext cx="527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D08CFE6-6CCC-41E4-98A3-F3A4647B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4175" y="7200900"/>
            <a:ext cx="565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Yasak filtre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79C6968-0673-4FD2-99A4-D953E094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625" y="6448425"/>
            <a:ext cx="412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34"/>
          </a:solidFill>
          <a:ln xmlns:a="http://schemas.openxmlformats.org/drawingml/2006/main" w="0">
            <a:solidFill>
              <a:srgbClr val="C43D34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3D158BD-C704-4904-9ACC-582E7767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6475" y="6257925"/>
            <a:ext cx="527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2CF7470-E236-4E6F-B7D3-69AA938A1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7425" y="7200900"/>
            <a:ext cx="565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İkame başarısı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F7F7FF6-8DF6-412D-9A4A-D818C945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286500"/>
            <a:ext cx="1952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36/36 karar senaryosu doğru sınıflandırıldı.</a:t>
            </a:r>
          </a:p>
          <a:p xmlns:a="http://schemas.openxmlformats.org/drawingml/2006/main">
            <a:pPr algn="l">
              <a:defRPr sz="8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Yasak malzeme filtresi ve condiment-only guard %100 başarı sağladı.</a:t>
            </a:r>
          </a:p>
          <a:p xmlns:a="http://schemas.openxmlformats.org/drawingml/2006/main">
            <a:pPr algn="l">
              <a:defRPr sz="8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Ortalama işlem süresi 0,0246 ms; P95 0,0706 ms ölçüldü.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50F5902-734E-4AB6-B892-BEF92021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981200"/>
            <a:ext cx="4200525" cy="5105400"/>
          </a:xfrm>
          <a:prstGeom xmlns:a="http://schemas.openxmlformats.org/drawingml/2006/main" prst="roundRect">
            <a:avLst>
              <a:gd name="adj" fmla="val 18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2A55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A5BBF52-C063-4B0E-8625-A8D698D2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038350"/>
            <a:ext cx="4048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SİSTEM ENTEGRASYONU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FE87EE0-F44B-46F7-8CE6-9177E67A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00300"/>
            <a:ext cx="8382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5B4AA2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A256A9F-0922-4591-BF6C-ACF91C6E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9555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Mutfak ekranı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780C89B-FB78-4B36-A475-F7E3A364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717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72A2690-2F47-4394-83E1-6FE2CDBB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00300"/>
            <a:ext cx="8382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9F5EF"/>
          </a:solidFill>
          <a:ln xmlns:a="http://schemas.openxmlformats.org/drawingml/2006/main" w="7620">
            <a:solidFill>
              <a:srgbClr val="5B4AA2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D603FB9-EC4C-445E-8BD1-88DAEE72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9555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263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2633B"/>
                </a:solidFill>
                <a:latin typeface="Arial"/>
                <a:ea typeface="Arial"/>
                <a:cs typeface="Arial"/>
              </a:rPr>
              <a:t>Recipe evaluator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8D63073-94D9-421F-9D20-9F7C5117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5717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2B63A6E-1A47-4F08-AC7B-D4646DC1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400300"/>
            <a:ext cx="8382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5B4AA2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BB5FB4B-7DBE-45E8-82C8-69B43AF3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49555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Taksonomi tabloları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E32F419-30A5-4762-815F-D621871F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25717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8B29A07-24C3-49C2-A854-58046A3C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400300"/>
            <a:ext cx="8382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9F5EF"/>
          </a:solidFill>
          <a:ln xmlns:a="http://schemas.openxmlformats.org/drawingml/2006/main" w="7620">
            <a:solidFill>
              <a:srgbClr val="5B4AA2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5DB1D94-755B-465E-BBFB-22EF8B6E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249555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263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2633B"/>
                </a:solidFill>
                <a:latin typeface="Arial"/>
                <a:ea typeface="Arial"/>
                <a:cs typeface="Arial"/>
              </a:rPr>
              <a:t>Tarif sonuç ekranı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C42B1F6-3B5D-4A46-BC37-AD9EC43A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19450"/>
            <a:ext cx="3190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8573">
            <a:solidFill>
              <a:srgbClr val="5B4AA2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4165E6B-1525-402F-9003-7245346D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314700"/>
            <a:ext cx="30003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Dytopia Backend API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16F8A49-C2DA-41D9-8955-1CAABECE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24250"/>
            <a:ext cx="30003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Kimlik doğrulama · iş kuralları · veri erişimi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787125B-9BC8-47FD-9E32-2620861C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781425"/>
            <a:ext cx="276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↑                 ↓                 ↑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C1F6F55-F95C-4864-82E3-562C0F54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14800"/>
            <a:ext cx="10668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1E6"/>
          </a:solidFill>
          <a:ln xmlns:a="http://schemas.openxmlformats.org/drawingml/2006/main" w="7620">
            <a:solidFill>
              <a:srgbClr val="C97A3D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80D6277-DD35-4AF3-B0CA-53558C1F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14800"/>
            <a:ext cx="10668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0EEFC"/>
          </a:solidFill>
          <a:ln xmlns:a="http://schemas.openxmlformats.org/drawingml/2006/main" w="7620">
            <a:solidFill>
              <a:srgbClr val="6C5CB5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673760D-D524-4577-9E06-EEAB144B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114800"/>
            <a:ext cx="10668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9F5EF"/>
          </a:solidFill>
          <a:ln xmlns:a="http://schemas.openxmlformats.org/drawingml/2006/main" w="7620">
            <a:solidFill>
              <a:srgbClr val="3E8C68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A79AA65-9998-4A34-B4A5-EBC2A419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248150"/>
            <a:ext cx="895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8A431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A431B"/>
                </a:solidFill>
                <a:latin typeface="Arial"/>
                <a:ea typeface="Arial"/>
                <a:cs typeface="Arial"/>
              </a:rPr>
              <a:t>İstemci</a:t>
            </a:r>
          </a:p>
          <a:p xmlns:a="http://schemas.openxmlformats.org/drawingml/2006/main">
            <a:pPr algn="ctr">
              <a:defRPr sz="750" b="1">
                <a:solidFill>
                  <a:srgbClr val="8A431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A431B"/>
                </a:solidFill>
                <a:latin typeface="Arial"/>
                <a:ea typeface="Arial"/>
                <a:cs typeface="Arial"/>
              </a:rPr>
              <a:t>Etkileşimi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A536F68-0F7A-402C-B985-734098998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248150"/>
            <a:ext cx="895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40318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0318A"/>
                </a:solidFill>
                <a:latin typeface="Arial"/>
                <a:ea typeface="Arial"/>
                <a:cs typeface="Arial"/>
              </a:rPr>
              <a:t>Karar</a:t>
            </a:r>
          </a:p>
          <a:p xmlns:a="http://schemas.openxmlformats.org/drawingml/2006/main">
            <a:pPr algn="ctr">
              <a:defRPr sz="750" b="1">
                <a:solidFill>
                  <a:srgbClr val="40318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0318A"/>
                </a:solidFill>
                <a:latin typeface="Arial"/>
                <a:ea typeface="Arial"/>
                <a:cs typeface="Arial"/>
              </a:rPr>
              <a:t>Servisleri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1885313-5856-4E51-A3D4-81E296A8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4248150"/>
            <a:ext cx="895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263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2633B"/>
                </a:solidFill>
                <a:latin typeface="Arial"/>
                <a:ea typeface="Arial"/>
                <a:cs typeface="Arial"/>
              </a:rPr>
              <a:t>Veri</a:t>
            </a:r>
          </a:p>
          <a:p xmlns:a="http://schemas.openxmlformats.org/drawingml/2006/main">
            <a:pPr algn="ctr">
              <a:defRPr sz="750" b="1">
                <a:solidFill>
                  <a:srgbClr val="1263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2633B"/>
                </a:solidFill>
                <a:latin typeface="Arial"/>
                <a:ea typeface="Arial"/>
                <a:cs typeface="Arial"/>
              </a:rPr>
              <a:t>Kalıcılığı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9D7752D-0596-4BD2-B468-B6642F4E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10150"/>
            <a:ext cx="3381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Ortak domain modeli mobil danışan, diyetisyen paneli ve backend servislerinin aynı kuralları uygulamasını sağlar.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E1203B7-AB07-4CF2-88F9-B9A91AE16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981700"/>
            <a:ext cx="33813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Ölçüm ve test artifact’leri karar katmanlarının davranışını izlenebilir hâle getirir.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C111E19-D452-4829-AF2C-FF3EB4E3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7200900"/>
            <a:ext cx="42005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2A55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6B03352-A5BD-437D-9004-AD81B8C62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7258050"/>
            <a:ext cx="4048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SONUÇ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4C974C6-ACB2-4F92-9D82-4C92F92B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7543800"/>
            <a:ext cx="388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Motor, yalnızca benzerlik skoru değil açık karar kuralları üretir.</a:t>
            </a:r>
          </a:p>
          <a:p xmlns:a="http://schemas.openxmlformats.org/drawingml/2006/main">
            <a:pPr algn="l">
              <a:defRPr sz="8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Zorunlu malzeme eksikliği opsiyonel eşleşmelerle maskelenmez.</a:t>
            </a:r>
          </a:p>
          <a:p xmlns:a="http://schemas.openxmlformats.org/drawingml/2006/main">
            <a:pPr algn="l">
              <a:defRPr sz="8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İkame ilişkileri tarifin neden uygun olduğunu kullanıcıya aktarır.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8DC0BBD-6277-4102-AB72-48B3963E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10550"/>
            <a:ext cx="73247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2A55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18DBA0D-E9DB-4DCF-93BE-3D1611B2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267700"/>
            <a:ext cx="71723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KAYNAKLAR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6B84757-21E7-41ED-86CE-9A3DF7E0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458200"/>
            <a:ext cx="7048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Burke (2002)     • Ricci vd. (2022)     • Chen vd. (2023)     • Li vd. (2023)     • Kim vd. (2025)     • Dytopia benchmark (2026)</a:t>
            </a:r>
          </a:p>
        </p:txBody>
      </p:sp>
    </p:spTree>
    <p:extLst>
      <p:ext uri="{BB962C8B-B14F-4D97-AF65-F5344CB8AC3E}">
        <p14:creationId xmlns:p14="http://schemas.microsoft.com/office/powerpoint/2010/main" val="17589123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2026-06-12T12:03:18.6980000Z</dcterms:created>
  <dcterms:modified xsi:type="dcterms:W3CDTF">2026-06-12T12:03:18.6980000Z</dcterms:modified>
</coreProperties>
</file>