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4f7252cad04d5e" /><Relationship Type="http://schemas.openxmlformats.org/officeDocument/2006/relationships/extended-properties" Target="/docProps/app.xml" Id="Ra52f00dfeec34236" /><Relationship Type="http://schemas.openxmlformats.org/officeDocument/2006/relationships/officeDocument" Target="/ppt/presentation.xml" Id="R7c974502b0f940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4d19c7db7940a2"/>
  </p:sldMasterIdLst>
  <p:notesMasterIdLst>
    <p:notesMasterId xmlns:r="http://schemas.openxmlformats.org/officeDocument/2006/relationships" r:id="R476b73e8c49148fe"/>
  </p:notesMasterIdLst>
  <p:sldIdLst>
    <p:sldId xmlns:r="http://schemas.openxmlformats.org/officeDocument/2006/relationships" id="256" r:id="R0066d174d9d94d81"/>
  </p:sldIdLst>
  <p:sldSz cx="12449175" cy="87439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3e6b78f99b4484" /><Relationship Type="http://schemas.openxmlformats.org/officeDocument/2006/relationships/slideMaster" Target="/ppt/slideMasters/slideMaster1.xml" Id="R8b4d19c7db7940a2" /><Relationship Type="http://schemas.openxmlformats.org/officeDocument/2006/relationships/notesMaster" Target="/ppt/notesMasters/notesMaster1.xml" Id="R476b73e8c49148fe" /><Relationship Type="http://schemas.openxmlformats.org/officeDocument/2006/relationships/presProps" Target="/ppt/presProps.xml" Id="R0283813c44ba4408" /><Relationship Type="http://schemas.openxmlformats.org/officeDocument/2006/relationships/viewProps" Target="/ppt/viewProps.xml" Id="Radfa812ac98d4ffd" /><Relationship Type="http://schemas.openxmlformats.org/officeDocument/2006/relationships/tableStyles" Target="/ppt/tableStyles.xml" Id="Rf3520e83149e416a" /><Relationship Type="http://schemas.openxmlformats.org/officeDocument/2006/relationships/slide" Target="/ppt/slides/slide1.xml" Id="R0066d174d9d94d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0883db69ef4d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9aef164ab34329" /><Relationship Type="http://schemas.openxmlformats.org/officeDocument/2006/relationships/notesMaster" Target="/ppt/notesMasters/notesMaster1.xml" Id="R7064f21aeff149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6e59f77ff41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7fc08389054a11" /><Relationship Type="http://schemas.openxmlformats.org/officeDocument/2006/relationships/slideLayout" Target="/ppt/slideLayouts/slideLayout1.xml" Id="R9d26649192a046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26649192a046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247723dc64cdf" /><Relationship Type="http://schemas.openxmlformats.org/officeDocument/2006/relationships/notesSlide" Target="/ppt/notesSlides/notesSlide1.xml" Id="R9f3a5a2e7c324a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EA8CDA-FBDC-4FF4-AD9E-DF6447F2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A5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A55"/>
                </a:solidFill>
                <a:latin typeface="Arial"/>
                <a:ea typeface="Arial"/>
                <a:cs typeface="Arial"/>
              </a:rPr>
              <a:t>TARSUS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03ED5-0CD9-46BE-84E0-CE779F52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A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A55"/>
                </a:solidFill>
                <a:latin typeface="Arial"/>
                <a:ea typeface="Arial"/>
                <a:cs typeface="Arial"/>
              </a:rPr>
              <a:t>ÜNİVERSİTESİ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92939-FFB9-4003-B79F-DD931BFE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5750"/>
            <a:ext cx="8048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DYTOPIA: MALZEME TAKSONOMİSİ VE GÜVENLİ İKAME YÖNETİMİ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D3FBF-2732-4D0C-8446-F401997A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6680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Halil İbrahim YILDIRIM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7CBDB-E2FB-44A7-A24B-97A65CA7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14450"/>
            <a:ext cx="638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Danışman: Dr. Öğr. Üyesi Volkan ATEŞ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42382-0F8E-4C8E-BBD6-2EC9D352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7162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Tarsus Üniversitesi, Mühendislik Fakültesi, Bilgisayar Mühendisliği Bölümü,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41AD8-7290-4375-B69D-71699FAF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000125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4E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4E86"/>
                </a:solidFill>
                <a:latin typeface="Arial"/>
                <a:ea typeface="Arial"/>
                <a:cs typeface="Arial"/>
              </a:rPr>
              <a:t>DYTOPIA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23D03-8B89-4F3D-A7D9-7E07E24C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619375" cy="35433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BDB7C-B077-40F4-9B8A-E6D43336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466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GİRİŞ / 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32D2D-80CA-4378-8474-2BBA9607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52675"/>
            <a:ext cx="2333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Aynı ailedeki ürünler her tarifte birbirinin yerine kullanılamaz. Kontrolsüz ikame, alerjen, diyet kuralı veya tarif bütünlüğü açısından hatalı öneri üretebilir.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F8965-8999-412E-953A-D7FEA73B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29100"/>
            <a:ext cx="2333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Araştırma Sorusu: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99034-E012-45CE-8AFD-1CB04DC5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386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Aile, varyant ve uyumluluk ilişkileri tarif ikamesini nasıl denetlenebilir hâle getirir?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06CAE-46FB-44C2-8773-C4997645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2619375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3775E-72C5-4057-A498-A86B083D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2466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AMAÇ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990C8-DA1C-406F-9BA2-4AD441D5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38850"/>
            <a:ext cx="2286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Malzeme aileleri ile varyantları ayrı modellemek.</a:t>
            </a:r>
          </a:p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İkame gücü ve uyumsuzluk kurallarını saklamak.</a:t>
            </a:r>
          </a:p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Tarif kararında en güçlü güvenli ikameyi seçmek.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60A88F-DC6F-43C6-AF35-8313ED19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81200"/>
            <a:ext cx="459105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22614E-92DF-4AD6-B3D6-295291BE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383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METODOLOJİ VE MODEL MİMARİSİ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C09B94-0EFC-4213-865E-0F783AF1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046C5E-9C6D-4DC9-AAD7-025C4B00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Canonical kimlik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284CB-1D6A-4390-A646-0C86DE48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33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A92A91-EE87-4558-B2C0-ACC18179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58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C931F6-199F-4662-9242-BDC448E2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68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Aile üyeliği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A2C267-E690-4A93-A117-D8CC2341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29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56873D-AD6B-4092-9E26-D1B05F60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54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940EBE-3D57-42D1-9D55-69B09A3A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Uyumluluk kuralı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9AB74C-CC53-4C27-98FE-0BE9C63A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25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9818E4-6DCC-439C-B9F3-37E7775C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50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9BA969-2E4F-4576-A736-D2A44449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60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İkame katmanı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4D233C-AC41-465D-AF09-19363072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21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10012F-BF96-410C-9AFA-EC6056C3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46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00F3EB-0804-4F97-AAA7-06B08169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656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Tarif kararı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AC8363-4B35-4874-AC85-B3B4B357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Katmanlar arası kontrollü karar akışı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A7996F-1024-469E-8F73-DDEE3B13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6C4BA9-9AF9-4EB3-B7AA-52E074DB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099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368 malzeme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D399A0-A6A2-40D8-9413-2ACDC3BA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67125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044BAC-49D4-48BA-A136-6D863A1F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819525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0EEFC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99278D-914A-473D-910B-A1558555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9572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A2D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A2D83"/>
                </a:solidFill>
                <a:latin typeface="Arial"/>
                <a:ea typeface="Arial"/>
                <a:cs typeface="Arial"/>
              </a:rPr>
              <a:t>23 aile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56955F-A452-41E7-A0DF-DCA2BF45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52900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5FE564-E969-4B26-BC6B-45A12663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05300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029E2E-3532-4D23-983E-6EA5E66B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815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126 aile üyeliği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D41949-C2A4-412C-B68D-40272A18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38675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6862A0-4F3D-436A-B687-7903F15B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791075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746040-65DC-41B2-A3F7-BD1198B5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672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48 uyumluluk kuralı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EF643E-7771-43CF-94A1-62DDA9B2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467350"/>
            <a:ext cx="382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Deterministik kurallar önce çalışır; belirsizlik açık durum olarak korunur.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3CC6A5-1A5E-4758-94E1-B756F847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848350"/>
            <a:ext cx="45910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3AD47A-39E0-4E6F-9C36-EF45D118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9055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BULGULAR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CE6CA3-E379-4137-A748-FBD0A129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1532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467"/>
          </a:solidFill>
          <a:ln xmlns:a="http://schemas.openxmlformats.org/drawingml/2006/main" w="0">
            <a:solidFill>
              <a:srgbClr val="475467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B75AC0-F0D4-448C-B704-5E0ABB82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505575"/>
            <a:ext cx="4127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E86"/>
          </a:solidFill>
          <a:ln xmlns:a="http://schemas.openxmlformats.org/drawingml/2006/main" w="0">
            <a:solidFill>
              <a:srgbClr val="264E8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1BEC5E-D6E2-4EC1-BC26-B0AF6036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315075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368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0C0026-7FF7-4F1C-B791-DCBD67AC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Malzeme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97741C-15BF-4496-8326-8E01F34F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375" y="6662738"/>
            <a:ext cx="412750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E86"/>
          </a:solidFill>
          <a:ln xmlns:a="http://schemas.openxmlformats.org/drawingml/2006/main" w="0">
            <a:solidFill>
              <a:srgbClr val="264E86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FEDFAE-6384-4F18-BB98-C5B910B5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225" y="6472238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126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6FD83A-6233-40B2-B248-3DE6BA1B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17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Aile üyesi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D81F97-7459-48D3-9277-0DBAEE0B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25" y="6819900"/>
            <a:ext cx="412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4"/>
          </a:solidFill>
          <a:ln xmlns:a="http://schemas.openxmlformats.org/drawingml/2006/main" w="0">
            <a:solidFill>
              <a:srgbClr val="C43D3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B33DDC3-8319-4601-B8AC-76940570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475" y="6629400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998512-597F-4195-956A-9741E738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42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Uyumluluk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211BEB4-FE59-45B5-9175-8778FC2E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286500"/>
            <a:ext cx="1952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Süt ailesinde baz ve varyant ayrımı veri modelinde korunur.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Birden fazla ikame varsa motor daha güçlü katmanı tercih eder.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Uyumsuzluk kuralı, tarifin pişirilebilir görünmesini engeller.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ACFCB48-E0CA-4BC3-9086-71E00A0D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981200"/>
            <a:ext cx="4200525" cy="5105400"/>
          </a:xfrm>
          <a:prstGeom xmlns:a="http://schemas.openxmlformats.org/drawingml/2006/main" prst="roundRect">
            <a:avLst>
              <a:gd name="adj" fmla="val 1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D585E57-8FF4-4170-9A69-84E41986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038350"/>
            <a:ext cx="404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SİSTEM ENTEGRASYONU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8AF9DAA-5285-40D0-A6D4-B272ED4B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8A2F2D5-E40E-4168-BBF8-9B907E19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368 malzeme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E2AC4EC-88A6-4A88-A2B7-5E84BA43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BE87649-CC73-49BC-92FA-3807C33F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EB5E77F-5C19-4C08-B29C-05697E52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23 aile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2040C6F-59DA-463F-8436-4D571C42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7AD4D8B-2DDF-479D-88DD-F87340BD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5C32120-4038-4EED-82AE-63F00E37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126 aile üyeliği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841D7D7-0D40-4410-B484-500C6B82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68AC696-EEC1-40D3-A33C-579BDC9C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5605365-5E46-43F4-B877-4425F2DE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48 uyumluluk kuralı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822F072-C31C-4BEE-B1A5-88AB9AF9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3190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8573">
            <a:solidFill>
              <a:srgbClr val="264E86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F452514-61F0-42AA-99AE-FA980E15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4700"/>
            <a:ext cx="3000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Dytopia Backend API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8BDFFAB-EF5B-4F23-A09E-643BA1B5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3000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Kimlik doğrulama · iş kuralları · veri erişimi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7EEA8EA-1647-4DE4-AABA-2968BFBB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8142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↑                 ↓                 ↑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BC4D0B2-CDCB-4C80-9B88-79E1DC9B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7620">
            <a:solidFill>
              <a:srgbClr val="C97A3D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885F5FE-596C-477B-82B0-68E495FE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EEFC"/>
          </a:solidFill>
          <a:ln xmlns:a="http://schemas.openxmlformats.org/drawingml/2006/main" w="7620">
            <a:solidFill>
              <a:srgbClr val="6C5CB5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2FE0263-FAD2-43FC-ABE4-AEEBA1CA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3E8C68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FA84166-E966-427B-978A-52CE0EF4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A431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431B"/>
                </a:solidFill>
                <a:latin typeface="Arial"/>
                <a:ea typeface="Arial"/>
                <a:cs typeface="Arial"/>
              </a:rPr>
              <a:t>İstemci</a:t>
            </a:r>
          </a:p>
          <a:p xmlns:a="http://schemas.openxmlformats.org/drawingml/2006/main">
            <a:pPr algn="ctr">
              <a:defRPr sz="750" b="1">
                <a:solidFill>
                  <a:srgbClr val="8A431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431B"/>
                </a:solidFill>
                <a:latin typeface="Arial"/>
                <a:ea typeface="Arial"/>
                <a:cs typeface="Arial"/>
              </a:rPr>
              <a:t>Etkileşimi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DEBEE16-063E-4076-AC47-02B638AB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031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0318A"/>
                </a:solidFill>
                <a:latin typeface="Arial"/>
                <a:ea typeface="Arial"/>
                <a:cs typeface="Arial"/>
              </a:rPr>
              <a:t>Karar</a:t>
            </a:r>
          </a:p>
          <a:p xmlns:a="http://schemas.openxmlformats.org/drawingml/2006/main">
            <a:pPr algn="ctr">
              <a:defRPr sz="750" b="1">
                <a:solidFill>
                  <a:srgbClr val="4031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0318A"/>
                </a:solidFill>
                <a:latin typeface="Arial"/>
                <a:ea typeface="Arial"/>
                <a:cs typeface="Arial"/>
              </a:rPr>
              <a:t>Servisleri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FF0754A-B9DC-4EC1-901A-B267BE30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Veri</a:t>
            </a:r>
          </a:p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Kalıcılığı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CA35D07-036D-4BF0-ACF3-B2454434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3381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Ortak domain modeli mobil danışan, diyetisyen paneli ve backend servislerinin aynı kuralları uygulamasını sağlar.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3C71875-01FB-4EFA-B9FA-6EB7E409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81700"/>
            <a:ext cx="3381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Ölçüm ve test artifact’leri karar katmanlarının davranışını izlenebilir hâle getirir.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F4C3590-6B66-4AB4-9BEE-022DF8F7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00900"/>
            <a:ext cx="42005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F8E9426-D5DA-465D-A051-6882B666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7258050"/>
            <a:ext cx="404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7D597B0-72A5-433D-812B-35AAD2A4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543800"/>
            <a:ext cx="388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Taksonomi, metin benzerliğini alan bilgisiyle sınırlar.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İkame kararı izlenebilir veri ilişkilerine dayanır.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Model yeni aile, varyant ve uyumluluk kurallarıyla genişletilebilir.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6FFD348-8233-4AC6-9B32-964CD008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10550"/>
            <a:ext cx="73247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D686120-3E23-43C7-AB87-28BDD386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67700"/>
            <a:ext cx="7172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KAYNAKLAR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D234E26-5B23-4069-9A69-A738C24F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58200"/>
            <a:ext cx="704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Burke (2002)     • Ricci vd. (2022)     • Chen vd. (2023)     • Li vd. (2023)     • Kim vd. (2025)     • Dytopia benchmark (2026)</a:t>
            </a:r>
          </a:p>
        </p:txBody>
      </p:sp>
    </p:spTree>
    <p:extLst>
      <p:ext uri="{BB962C8B-B14F-4D97-AF65-F5344CB8AC3E}">
        <p14:creationId xmlns:p14="http://schemas.microsoft.com/office/powerpoint/2010/main" val="1959496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2026-06-12T12:03:19.1330000Z</dcterms:created>
  <dcterms:modified xsi:type="dcterms:W3CDTF">2026-06-12T12:03:19.1330000Z</dcterms:modified>
</coreProperties>
</file>