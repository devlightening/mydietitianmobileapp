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6a8af95c254f77" /><Relationship Type="http://schemas.openxmlformats.org/officeDocument/2006/relationships/extended-properties" Target="/docProps/app.xml" Id="Rd8a0ca0ba3e242c6" /><Relationship Type="http://schemas.openxmlformats.org/officeDocument/2006/relationships/officeDocument" Target="/ppt/presentation.xml" Id="Ra1e8ef9e02a343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260adeb6c14409"/>
  </p:sldMasterIdLst>
  <p:notesMasterIdLst>
    <p:notesMasterId xmlns:r="http://schemas.openxmlformats.org/officeDocument/2006/relationships" r:id="R5390e191d7194dd7"/>
  </p:notesMasterIdLst>
  <p:sldIdLst>
    <p:sldId xmlns:r="http://schemas.openxmlformats.org/officeDocument/2006/relationships" id="256" r:id="R03141d4612c44e09"/>
  </p:sldIdLst>
  <p:sldSz cx="12449175" cy="87439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2fa4cc548848a6" /><Relationship Type="http://schemas.openxmlformats.org/officeDocument/2006/relationships/slideMaster" Target="/ppt/slideMasters/slideMaster1.xml" Id="Rdf260adeb6c14409" /><Relationship Type="http://schemas.openxmlformats.org/officeDocument/2006/relationships/notesMaster" Target="/ppt/notesMasters/notesMaster1.xml" Id="R5390e191d7194dd7" /><Relationship Type="http://schemas.openxmlformats.org/officeDocument/2006/relationships/presProps" Target="/ppt/presProps.xml" Id="Rc54b5640a2f7478d" /><Relationship Type="http://schemas.openxmlformats.org/officeDocument/2006/relationships/viewProps" Target="/ppt/viewProps.xml" Id="R775fc6b03e554a81" /><Relationship Type="http://schemas.openxmlformats.org/officeDocument/2006/relationships/tableStyles" Target="/ppt/tableStyles.xml" Id="R429b01e8c77e47da" /><Relationship Type="http://schemas.openxmlformats.org/officeDocument/2006/relationships/slide" Target="/ppt/slides/slide1.xml" Id="R03141d4612c44e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36722cd0b24b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806bf29c724c65" /><Relationship Type="http://schemas.openxmlformats.org/officeDocument/2006/relationships/notesMaster" Target="/ppt/notesMasters/notesMaster1.xml" Id="R22ed6223322f46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e685e51a544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1bab016e464e6c" /><Relationship Type="http://schemas.openxmlformats.org/officeDocument/2006/relationships/slideLayout" Target="/ppt/slideLayouts/slideLayout1.xml" Id="R5514b367003f44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14b367003f44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6e42df3f74e9d" /><Relationship Type="http://schemas.openxmlformats.org/officeDocument/2006/relationships/notesSlide" Target="/ppt/notesSlides/notesSlide1.xml" Id="R8a57136321a34c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31E2F0-AA68-47F7-8710-AF8F7753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55"/>
                </a:solidFill>
                <a:latin typeface="Arial"/>
                <a:ea typeface="Arial"/>
                <a:cs typeface="Arial"/>
              </a:rPr>
              <a:t>TARSUS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2B7E9-4BCF-48EC-9EFE-34F3523D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A55"/>
                </a:solidFill>
                <a:latin typeface="Arial"/>
                <a:ea typeface="Arial"/>
                <a:cs typeface="Arial"/>
              </a:rPr>
              <a:t>ÜNİVERSİTESİ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58A6B-09B9-4ECB-B38D-FC715BEB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"/>
            <a:ext cx="804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DYTOPIA: DANIŞAN MOBİL UYGULAMASINDA AKILLI MUTFAK VE UYUM TAKİBİ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67ED6-904E-40D5-AEDD-A3FDA1A5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Halil İbrahim YILDIRIM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53DCC-2342-4AA1-9452-6D66911D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14450"/>
            <a:ext cx="638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Danışman: Dr. Öğr. Üyesi Volkan ATEŞ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4CD21-0D1A-476F-8330-24C77262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Tarsus Üniversitesi, Mühendislik Fakültesi, Bilgisayar Mühendisliği Bölümü,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86057-23EC-4D63-BB59-DC6E1837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000125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4E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4E86"/>
                </a:solidFill>
                <a:latin typeface="Arial"/>
                <a:ea typeface="Arial"/>
                <a:cs typeface="Arial"/>
              </a:rPr>
              <a:t>DYTOPIA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67DA5-8575-4099-87AA-F44E3B4E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619375" cy="35433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82DF4-2303-4C06-A00A-114F3CC3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GİRİŞ /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0881F-33A6-4142-B0C4-79F006F7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52675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Danışanlar diyet planına erişse bile evde ne hazırlayacağını, eksik malzemeyi ve uygun alternatifi hızlıca belirlemekte zorlanabilir. Parçalı ekranlar günlük uyumu azaltır.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08472-9B1B-4A0F-A7BC-1168A86E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291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Araştırma Sorusu: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B92AA-838D-4986-8CA6-29D567C6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Plan, dolap, mutfak ve geri bildirim akışları tek mobil deneyimde nasıl birleştirilebilir?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C4B69-9543-4147-9862-1D418729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2619375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275CD-59C2-4600-9E59-CA30CEF4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8F48D-27F2-4397-B96D-FC2F410A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Günlük plan ve ilerlemeyi görünür kılmak.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Dolaptaki malzemelerden açıklanabilir tarif önermek.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Alışveriş listesi, öğün kaydı ve geri bildirimi bağlamak.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0B100-4FC3-45B5-A840-9DFBB34F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45910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57A39-75C2-4979-B7BF-67E2472F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383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METODOLOJİ VE MODEL MİMARİSİ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5DE1A-D321-426E-9BE1-7D6FDF78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69382-33F4-45DA-8AE8-E4CA7FAF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Planı görüntüle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4387A-B4E5-494F-8F4F-FB4DBB6F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33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4C613-959D-4448-BE18-E66D8DAF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31DC9-225F-4EAC-9459-EAB3A3A4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Malzeme ekle / tara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1E966C-6BCA-4DCA-9ABA-DC683C66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04936A-6018-453F-816A-60664630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4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AE7C19-DA74-4FF3-8970-9517E07C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Tarif öner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E6F5B-867D-45B4-B38A-858AD539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D4E6AE-31FF-4E73-B569-5F0722CF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614CE-55E6-4422-8792-E4AE6442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Pişirme modu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D21C4E-2D74-4BA6-8C17-DC77AB62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DF2242-A507-4EAB-9B8C-13157AC4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6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1C28A4-7C48-41E2-9DCF-FD501B1F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6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Öğün kaydı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454597-2B2E-41D6-BB11-C5AF9B91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Katmanlar arası kontrollü karar akışı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59C87-6073-4668-93A8-B10D1C07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A0FE24-09E5-4F41-ADCE-DDAF77CD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Expo / React Native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B7F2FC-B0F4-4274-A6B8-C2FB17EF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6712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EC56DC-3ACE-4A86-B859-BF8FF5AD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1952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41AEF5-0545-4E90-B675-146DC6ED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A2D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A2D83"/>
                </a:solidFill>
                <a:latin typeface="Arial"/>
                <a:ea typeface="Arial"/>
                <a:cs typeface="Arial"/>
              </a:rPr>
              <a:t>Kamera ve tarama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443ADA-DFFF-4A5B-94CF-95D42D0A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529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361A6E-A059-4A51-AE51-6C4AE6CC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7DFF0F-F96E-4902-9CF2-42810A9F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Kitchen API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66B686-FC3F-4A2B-9A95-9E427635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86CFB5-DAD2-42D9-A9AB-908D22D5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9107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31EFC2-43F6-480A-A4B3-2B1117A6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Care SignalR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55C9B4-1C62-4C47-9A6C-D0013B4E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67350"/>
            <a:ext cx="382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Deterministik kurallar önce çalışır; belirsizlik açık durum olarak korunur.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683A69-5420-44EB-A331-3B18EFF2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48350"/>
            <a:ext cx="4591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5CDB2F-13F5-417D-B2A1-12B9CAA5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055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BULGULAR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2FB910-BC5C-4276-B780-60030907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15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0AE5CA-DAF7-454D-9EA7-D35D8577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627019"/>
            <a:ext cx="412750" cy="535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E86"/>
          </a:solidFill>
          <a:ln xmlns:a="http://schemas.openxmlformats.org/drawingml/2006/main" w="0">
            <a:solidFill>
              <a:srgbClr val="264E8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C160E5-EE5C-4484-A11E-ABFDFB55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436519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 adım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F2F958-22BE-4F86-A4A4-66064010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Temel akış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646E23-20B5-4408-B435-73B079B8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6448425"/>
            <a:ext cx="41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E86"/>
          </a:solidFill>
          <a:ln xmlns:a="http://schemas.openxmlformats.org/drawingml/2006/main" w="0">
            <a:solidFill>
              <a:srgbClr val="264E8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205B99-42D8-471E-94B5-9287B43E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25" y="62579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2D2BC0-46A8-4CD7-94C0-C5B6FF48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17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Tarif kararı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01F095-D6DC-4E88-9927-06251EDF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6648450"/>
            <a:ext cx="41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4"/>
          </a:solidFill>
          <a:ln xmlns:a="http://schemas.openxmlformats.org/drawingml/2006/main" w="0">
            <a:solidFill>
              <a:srgbClr val="C43D3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E70C82-FC6B-4298-8BDD-509E9AE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475" y="6457950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6,02 ms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C26636-B421-455B-9929-6EE9D0F7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4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Öneri P95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A3806D-41DB-45CA-8C39-9EFB22FC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86500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Mobil akış plan, mutfak, tarif detayı ve alışveriş listesini bütünleştirir.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Kullanıcıya eksik, ikame ve yasak malzeme nedenleri gösterilir.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Diyetisyen bağlantısı ve bildirimler aynı hesap bağlamında korunur.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83D3EC-DF5F-433A-AB95-C12BD5FF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81200"/>
            <a:ext cx="4200525" cy="5105400"/>
          </a:xfrm>
          <a:prstGeom xmlns:a="http://schemas.openxmlformats.org/drawingml/2006/main" prst="roundRect">
            <a:avLst>
              <a:gd name="adj" fmla="val 1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379CD2-BB76-4BF4-B76C-5617C37A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SİSTEM ENTEGRASYONU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4616728-1D35-401A-B68F-7977E887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882020-7967-4BEC-8B9C-C39B89B1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Expo / React Native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F97A93-298A-4F63-972B-4397D0C7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5CF3C5-72CC-41D3-A558-35971F23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D11496-E88D-44F7-A8F4-6ED1DAAF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Kamera ve tarama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057229-1940-45D5-8770-09D43027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03D040-F6D7-4FC5-9581-19101C8A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64E6A4-7FFF-4D5A-A2AD-366C829A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Kitchen API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5644D4-7413-461D-8B6F-9AFF17D7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C59A2B-67F5-46FE-B732-A1637683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6F04E2-1F7F-4371-BE2D-D4A8EE82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Care SignalR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25873C9-E9AD-4C40-AA76-1390CF42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319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8573">
            <a:solidFill>
              <a:srgbClr val="264E86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798D090-DEEE-4C00-93BC-AC7E114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00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Dytopia Backend 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E5DDB49-7B4D-438E-9B83-19CD4ADE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Kimlik doğrulama · iş kuralları · veri erişimi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DA8E8D-AD15-4426-9BB2-E04056B8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8142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↑                 ↓                 ↑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0C91754-5087-41A6-A6EC-5436CDC6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7620">
            <a:solidFill>
              <a:srgbClr val="C97A3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6B10B6-F9E3-4651-A4F3-CB3A6359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6C5CB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F6E770-9077-4CF4-A5ED-A79197CC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3E8C6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BA4428B-8714-4815-B52F-566A407F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İstemci</a:t>
            </a:r>
          </a:p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Etkileşimi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EFC8061-5FB6-49D9-BA45-73291D2D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Servisleri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DAF6754-3D30-4163-8E87-DA4AD272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Veri</a:t>
            </a:r>
          </a:p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Kalıcılığı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D027A81-FC67-4B4D-A485-AC29C26E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81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Ortak domain modeli mobil danışan, diyetisyen paneli ve backend servislerinin aynı kuralları uygulamasını sağlar.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D8C079-ACAB-400A-A133-08CC60EE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3381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Ölçüm ve test artifact’leri karar katmanlarının davranışını izlenebilir hâle getirir.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C35EBB6-F794-48DC-A608-BB7174BF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00900"/>
            <a:ext cx="4200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F75E60B-AAFF-46A3-A842-448CC3CA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580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BEF0FF-0286-4815-B5A2-E62FA12E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43800"/>
            <a:ext cx="388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Mobil deneyim, öneri sonucundan önce veri kalitesini görünür kılar.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Açıklamalar kullanıcının öneriyi değerlendirmesini kolaylaştırır.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Uygulama klinik karar vermez; diyetisyen planını destekler.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C7BAADA-8EA6-4A48-83B3-44338517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10550"/>
            <a:ext cx="7324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4587C6A-740F-4987-9673-1CF0A88E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7172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KAYNAKLAR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D9C5988-622B-4123-9489-33A58E6E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58200"/>
            <a:ext cx="704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Burke (2002)     • Ricci vd. (2022)     • Chen vd. (2023)     • Li vd. (2023)     • Kim vd. (2025)     • Dytopia benchmark (2026)</a:t>
            </a:r>
          </a:p>
        </p:txBody>
      </p:sp>
    </p:spTree>
    <p:extLst>
      <p:ext uri="{BB962C8B-B14F-4D97-AF65-F5344CB8AC3E}">
        <p14:creationId xmlns:p14="http://schemas.microsoft.com/office/powerpoint/2010/main" val="89028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2026-06-12T12:03:20.6570000Z</dcterms:created>
  <dcterms:modified xsi:type="dcterms:W3CDTF">2026-06-12T12:03:20.6570000Z</dcterms:modified>
</coreProperties>
</file>