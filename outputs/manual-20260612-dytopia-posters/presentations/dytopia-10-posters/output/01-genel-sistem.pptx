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9a1c7128be4983" /><Relationship Type="http://schemas.openxmlformats.org/officeDocument/2006/relationships/extended-properties" Target="/docProps/app.xml" Id="Raf74526639db4251" /><Relationship Type="http://schemas.openxmlformats.org/officeDocument/2006/relationships/officeDocument" Target="/ppt/presentation.xml" Id="Rc38289f66aeb41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ff582430cd4b83"/>
  </p:sldMasterIdLst>
  <p:notesMasterIdLst>
    <p:notesMasterId xmlns:r="http://schemas.openxmlformats.org/officeDocument/2006/relationships" r:id="R3025480237a041c8"/>
  </p:notesMasterIdLst>
  <p:sldIdLst>
    <p:sldId xmlns:r="http://schemas.openxmlformats.org/officeDocument/2006/relationships" id="256" r:id="Ref7ce8dd42c84caf"/>
  </p:sldIdLst>
  <p:sldSz cx="12449175" cy="87439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84f77055d844e6" /><Relationship Type="http://schemas.openxmlformats.org/officeDocument/2006/relationships/slideMaster" Target="/ppt/slideMasters/slideMaster1.xml" Id="Rb9ff582430cd4b83" /><Relationship Type="http://schemas.openxmlformats.org/officeDocument/2006/relationships/notesMaster" Target="/ppt/notesMasters/notesMaster1.xml" Id="R3025480237a041c8" /><Relationship Type="http://schemas.openxmlformats.org/officeDocument/2006/relationships/presProps" Target="/ppt/presProps.xml" Id="R13efd4ede3a74610" /><Relationship Type="http://schemas.openxmlformats.org/officeDocument/2006/relationships/viewProps" Target="/ppt/viewProps.xml" Id="Rc6ec5a87f7f2475e" /><Relationship Type="http://schemas.openxmlformats.org/officeDocument/2006/relationships/tableStyles" Target="/ppt/tableStyles.xml" Id="R61d6c5cc7d1d4ca2" /><Relationship Type="http://schemas.openxmlformats.org/officeDocument/2006/relationships/slide" Target="/ppt/slides/slide1.xml" Id="Ref7ce8dd42c84c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92d2cb31b243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650396f1d34d07" /><Relationship Type="http://schemas.openxmlformats.org/officeDocument/2006/relationships/notesMaster" Target="/ppt/notesMasters/notesMaster1.xml" Id="R415755f8af5049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31f8ddcab84d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12394ebc8544aa" /><Relationship Type="http://schemas.openxmlformats.org/officeDocument/2006/relationships/slideLayout" Target="/ppt/slideLayouts/slideLayout1.xml" Id="R40812b35d4344c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812b35d4344c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31eb0dd514c01" /><Relationship Type="http://schemas.openxmlformats.org/officeDocument/2006/relationships/notesSlide" Target="/ppt/notesSlides/notesSlide1.xml" Id="R35a57a6bdddc4d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4D331D-5D99-4CFB-86A4-B774391D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3875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A5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A55"/>
                </a:solidFill>
                <a:latin typeface="Arial"/>
                <a:ea typeface="Arial"/>
                <a:cs typeface="Arial"/>
              </a:rPr>
              <a:t>TARSUS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FACEA-4F5D-4F9E-BBCB-D8D1DA78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A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A55"/>
                </a:solidFill>
                <a:latin typeface="Arial"/>
                <a:ea typeface="Arial"/>
                <a:cs typeface="Arial"/>
              </a:rPr>
              <a:t>ÜNİVERSİTESİ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A1401-B627-41E8-A6ED-18CAE64D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5750"/>
            <a:ext cx="8048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DYTOPIA: ÇOK AŞAMALI MALZEME NORMALİZASYONU VE AÇIKLANABİLİR TARİF ÖNERİ SİSTEMİ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11C12-7340-473A-B7D1-543E8C6F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6680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Halil İbrahim YILDIRIM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B1B33-8F8D-4A7E-8642-1A299089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14450"/>
            <a:ext cx="638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Danışman: Dr. Öğr. Üyesi Volkan ATEŞ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815CB-51DB-46DA-8D27-4325FA1B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71625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Tarsus Üniversitesi, Mühendislik Fakültesi, Bilgisayar Mühendisliği Bölümü,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0E7F3-0700-491B-A612-91D39C74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000125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4E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4E86"/>
                </a:solidFill>
                <a:latin typeface="Arial"/>
                <a:ea typeface="Arial"/>
                <a:cs typeface="Arial"/>
              </a:rPr>
              <a:t>DYTOPIA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26036-B594-4E30-AFF9-930110FD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619375" cy="354330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95C68-FBB0-4242-A656-07CE4170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2466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GİRİŞ / 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8469F-BD69-442C-A582-E886392D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52675"/>
            <a:ext cx="2333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Danışanlar evdeki malzemeleri farklı yazım, marka ve günlük dil biçimleriyle ifade eder. Bu girdi doğrudan tarif kurallarıyla karşılaştırıldığında yanlış eşleşme, gereksiz tarif eleme ve açıklanamayan öneri riski oluşur.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A5C68-2BAE-4345-885A-BA54ED0D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29100"/>
            <a:ext cx="2333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Araştırma Sorusu: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D30E9-D746-4E58-8AC7-2D645EFA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438650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Serbest metin malzeme girdileri güvenli biçimde standartlaştırılıp diyetisyen kurallarıyla açıklanabilir tarif kararına dönüştürülebilir mi?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5F5122-2F7A-4690-AE39-90D9EED8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2619375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5782E8-731C-480A-BFC8-433E8A37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2466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AMAÇ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B55466-96C9-444D-8EC1-723E722C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38850"/>
            <a:ext cx="2286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Serbest metni canonical malzeme kimliğine dönüştürmek.</a:t>
            </a:r>
          </a:p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Zorunlu, opsiyonel, yasak ve alternatif rolleri birlikte değerlendirmek.</a:t>
            </a:r>
          </a:p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Mobil, web panel ve API katmanlarını ortak veri modeliyle bütünleştirmek.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4A251F-CE67-4F4E-9A62-3806D574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81200"/>
            <a:ext cx="459105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01608-2E4B-4812-9157-C5EBE003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383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METODOLOJİ VE MODEL MİMARİSİ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A3C886-C34C-4DB2-A66E-F2175A45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6F4778-0F7B-430A-A539-E42C5DFC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Serbest metin / tarama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42B61C-3E22-47FD-A5B0-CCCA6268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33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36811F-30E9-46B4-AC40-B6E792F0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58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E4AB2E-0382-42C8-8F32-2439438D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68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Canonical + Alias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CB1821-9A5E-421C-87F5-C711CB35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29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A21D19-6BB7-4DAC-878D-DBD13FD4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54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1C802F-F379-4DCF-B87F-C4F4B5E2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64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Fuzzy + Unresolved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71F800-D528-4105-9371-A24BAA4B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25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197474-6269-4B15-A6E1-B72E78E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50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989DF5-61DA-4A75-B80B-AFEDA121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60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Kural tabanlı motor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FFDBAE-AD9C-4991-A071-883FA8E6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21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950FDE-808F-405C-A58B-7E89596B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46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3E86AC-DCE2-42D1-B227-A4C62B29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656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Açıklanabilir öneri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012E6A-E5D1-4FD6-AE14-C00C73CD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670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Katmanlar arası kontrollü karar akışı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F77D4E-7579-4864-9872-88424435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33750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331E52-A50E-4746-9834-0766B9EA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4099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React Native / Expo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4D86C2-3BC9-4D6F-8A68-7EBDD311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67125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C5E31F-91F5-48F2-85F8-34594F8D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819525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0EEFC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7FE462-F25A-44EA-905F-CD590BF7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9572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A2D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A2D83"/>
                </a:solidFill>
                <a:latin typeface="Arial"/>
                <a:ea typeface="Arial"/>
                <a:cs typeface="Arial"/>
              </a:rPr>
              <a:t>ASP.NET Core API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2C63A0-2E22-40C2-9BC7-FB13C0EE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52900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E69092-B186-4DFD-96D0-ABCB1E6E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305300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CE3590-2145-43F3-9655-B4B32022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815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EF Core + PostgreSQL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7C8F47-1B7A-4CF3-8FA3-1524EF4B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38675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808D92-C54C-43F4-8D21-CAC8A7B7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791075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1971A2-0FA8-4B0B-9106-C39AD6B2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6727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Next.js Web Panel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8022AF-8BF8-435F-9AB3-FC7A347A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467350"/>
            <a:ext cx="382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Deterministik kurallar önce çalışır; belirsizlik açık durum olarak korunur.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E47D04-230E-4E2C-8489-EFDE13D9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848350"/>
            <a:ext cx="45910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9AB227-E15B-4B89-B697-AAA725F9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9055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BULGULAR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B8A89C-6610-44F2-8309-9FF2003D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715327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467"/>
          </a:solidFill>
          <a:ln xmlns:a="http://schemas.openxmlformats.org/drawingml/2006/main" w="0">
            <a:solidFill>
              <a:srgbClr val="475467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F9A302-2BBD-408E-AF3D-BAE68435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458212"/>
            <a:ext cx="412750" cy="704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E86"/>
          </a:solidFill>
          <a:ln xmlns:a="http://schemas.openxmlformats.org/drawingml/2006/main" w="0">
            <a:solidFill>
              <a:srgbClr val="264E8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A440ABE-B4A7-48F6-88E7-B337C9F3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267712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98,63%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5E4F88-A66D-4B63-B200-C9B761F7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Normalizasyon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F342D6-D754-4CB8-B74B-4D9B4DAA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375" y="6448425"/>
            <a:ext cx="412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E86"/>
          </a:solidFill>
          <a:ln xmlns:a="http://schemas.openxmlformats.org/drawingml/2006/main" w="0">
            <a:solidFill>
              <a:srgbClr val="264E86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84FA7E1-0C3A-44AE-9B24-82F94E8A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225" y="6257925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52488A2-1519-4EF0-8F74-D6D14D57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17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Tarif kararı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99A0CB2-CAE2-46FA-9C1C-5519F467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625" y="6448425"/>
            <a:ext cx="412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4"/>
          </a:solidFill>
          <a:ln xmlns:a="http://schemas.openxmlformats.org/drawingml/2006/main" w="0">
            <a:solidFill>
              <a:srgbClr val="C43D3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C03B56E-5352-4909-ACAE-B232C67A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475" y="6257925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47A96B-7180-44F4-92FA-EC869A43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42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Güvenlik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CB9A360-F03A-489D-8C77-7BACFB59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286500"/>
            <a:ext cx="1952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73 senaryoda 72 doğru normalizasyon ve %0,00 false match.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36 tarif karar senaryosunun tamamı doğru sonuçlandı.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Premium Guard ve Tenant Isolation kontrolleri 10/10 başarı gösterdi.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EEBAB3C-83C3-4142-8468-F32A2945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981200"/>
            <a:ext cx="4200525" cy="5105400"/>
          </a:xfrm>
          <a:prstGeom xmlns:a="http://schemas.openxmlformats.org/drawingml/2006/main" prst="roundRect">
            <a:avLst>
              <a:gd name="adj" fmla="val 1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2E73C3F-2355-4A10-9132-AB5A95CD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038350"/>
            <a:ext cx="404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SİSTEM ENTEGRASYONU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C292BFB-ECDA-4957-AD33-48479D7B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80767D7-AD47-48E6-84A9-21BC0682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React Native / Expo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9AE4C75-A664-47F8-95FB-A2C4F99A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3762F89-B800-42B7-A8BB-936F7555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3C13A45-B4BA-4B30-BB33-4751522D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ASP.NET Core API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90118D3-3EA3-4AB4-9074-01BA2954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D9EF322-88E7-4F72-81C8-EA2ECE24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6E96967-7B16-4A5F-AD32-9F36E848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EF Core + PostgreSQL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D689B91-989A-41A7-A38B-A87918A7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79CE8DE-B327-4578-871F-71BE4442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264E86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121F671-03E4-4BC2-9BD5-FEB64D6A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Next.js Web Panel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38BF712-C498-4557-B410-0DA187BA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19450"/>
            <a:ext cx="3190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8573">
            <a:solidFill>
              <a:srgbClr val="264E86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E6D0A3A-C320-452C-9C39-E689E2AD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14700"/>
            <a:ext cx="3000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Dytopia Backend API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518FBE0-2F4D-4342-8683-8D650B62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3000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Kimlik doğrulama · iş kuralları · veri erişimi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854E395-4C2B-4D1D-B012-E950A6BD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81425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↑                 ↓                 ↑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FFCD6F3-15BD-43E8-985E-92F55A5A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E6"/>
          </a:solidFill>
          <a:ln xmlns:a="http://schemas.openxmlformats.org/drawingml/2006/main" w="7620">
            <a:solidFill>
              <a:srgbClr val="C97A3D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CE470E7-CC2D-47C5-A344-C8CDAFA6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0EEFC"/>
          </a:solidFill>
          <a:ln xmlns:a="http://schemas.openxmlformats.org/drawingml/2006/main" w="7620">
            <a:solidFill>
              <a:srgbClr val="6C5CB5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BE50191-CAAD-4968-88F7-D3C86A3E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3E8C68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05A503C-3F1B-4E4C-8F02-5330B9BC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A431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431B"/>
                </a:solidFill>
                <a:latin typeface="Arial"/>
                <a:ea typeface="Arial"/>
                <a:cs typeface="Arial"/>
              </a:rPr>
              <a:t>İstemci</a:t>
            </a:r>
          </a:p>
          <a:p xmlns:a="http://schemas.openxmlformats.org/drawingml/2006/main">
            <a:pPr algn="ctr">
              <a:defRPr sz="750" b="1">
                <a:solidFill>
                  <a:srgbClr val="8A431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431B"/>
                </a:solidFill>
                <a:latin typeface="Arial"/>
                <a:ea typeface="Arial"/>
                <a:cs typeface="Arial"/>
              </a:rPr>
              <a:t>Etkileşimi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B211BDC-DF9F-4CF1-A345-35248442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031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0318A"/>
                </a:solidFill>
                <a:latin typeface="Arial"/>
                <a:ea typeface="Arial"/>
                <a:cs typeface="Arial"/>
              </a:rPr>
              <a:t>Karar</a:t>
            </a:r>
          </a:p>
          <a:p xmlns:a="http://schemas.openxmlformats.org/drawingml/2006/main">
            <a:pPr algn="ctr">
              <a:defRPr sz="750" b="1">
                <a:solidFill>
                  <a:srgbClr val="4031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0318A"/>
                </a:solidFill>
                <a:latin typeface="Arial"/>
                <a:ea typeface="Arial"/>
                <a:cs typeface="Arial"/>
              </a:rPr>
              <a:t>Servisleri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FD54A33-338B-41EA-BFEC-9AEC69CC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Veri</a:t>
            </a:r>
          </a:p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Kalıcılığı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E550DC8-2DD1-46D4-91D0-7953A3B9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0150"/>
            <a:ext cx="3381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Ortak domain modeli mobil danışan, diyetisyen paneli ve backend servislerinin aynı kuralları uygulamasını sağlar.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BACD079-E784-42EF-9D49-BA5BC350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81700"/>
            <a:ext cx="3381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Ölçüm ve test artifact’leri karar katmanlarının davranışını izlenebilir hâle getirir.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DBFD246-5F27-44D0-9A3A-DB7CE0E5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00900"/>
            <a:ext cx="42005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5DB23FE-E3F1-47B4-8D37-AEE69114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7258050"/>
            <a:ext cx="404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1FDC305-1159-4DC8-ACDB-16E5368D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543800"/>
            <a:ext cx="388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Dytopia, belirsiz girdiyi doğrudan öneriye çevirmek yerine ölçülebilir resolver katmanlarından geçirir.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Yapay zekâ nihai karar verici değil, belirsiz girdiler için kontrollü yardımcı katmandır.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Bulgular klinik etkinlik değil, teknik uygulanabilirlik ve açıklanabilirlik kanıtıdır.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0E8F29F-E5FB-4152-B4A9-4FFAB5B8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10550"/>
            <a:ext cx="73247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DE3A8FD-54E6-4798-98D1-8B169FC4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67700"/>
            <a:ext cx="71723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KAYNAKLAR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13420AF-9DE5-4946-A240-4F56C9F8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458200"/>
            <a:ext cx="704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Burke (2002)     • Ricci vd. (2022)     • Chen vd. (2023)     • Li vd. (2023)     • Kim vd. (2025)     • Dytopia benchmark (2026)</a:t>
            </a:r>
          </a:p>
        </p:txBody>
      </p:sp>
    </p:spTree>
    <p:extLst>
      <p:ext uri="{BB962C8B-B14F-4D97-AF65-F5344CB8AC3E}">
        <p14:creationId xmlns:p14="http://schemas.microsoft.com/office/powerpoint/2010/main" val="3470478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2026-06-12T12:03:16.6590000Z</dcterms:created>
  <dcterms:modified xsi:type="dcterms:W3CDTF">2026-06-12T12:03:16.6590000Z</dcterms:modified>
</coreProperties>
</file>